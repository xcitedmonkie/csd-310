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8" r:id="rId1"/>
  </p:sldMasterIdLst>
  <p:sldIdLst>
    <p:sldId id="256" r:id="rId2"/>
    <p:sldId id="257" r:id="rId3"/>
    <p:sldId id="258" r:id="rId4"/>
    <p:sldId id="260" r:id="rId5"/>
    <p:sldId id="261" r:id="rId6"/>
    <p:sldId id="262" r:id="rId7"/>
    <p:sldId id="263" r:id="rId8"/>
    <p:sldId id="264"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3" d="100"/>
          <a:sy n="153" d="100"/>
        </p:scale>
        <p:origin x="2034"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300235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77982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622904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211369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09947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780443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068215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841006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496038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030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923520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71908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056075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742154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556340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3062990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677981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3/15/2026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43811369"/>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Outland Adventures Database Case Study</a:t>
            </a:r>
          </a:p>
        </p:txBody>
      </p:sp>
      <p:sp>
        <p:nvSpPr>
          <p:cNvPr id="3" name="Content Placeholder 2"/>
          <p:cNvSpPr>
            <a:spLocks noGrp="1"/>
          </p:cNvSpPr>
          <p:nvPr>
            <p:ph idx="1"/>
          </p:nvPr>
        </p:nvSpPr>
        <p:spPr/>
        <p:txBody>
          <a:bodyPr/>
          <a:lstStyle/>
          <a:p>
            <a:r>
              <a:t>Rebecca Essenburg &amp; Daniel Fryer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4’s Approach</a:t>
            </a:r>
            <a:endParaRPr dirty="0"/>
          </a:p>
        </p:txBody>
      </p:sp>
      <p:sp>
        <p:nvSpPr>
          <p:cNvPr id="3" name="Content Placeholder 2"/>
          <p:cNvSpPr>
            <a:spLocks noGrp="1"/>
          </p:cNvSpPr>
          <p:nvPr>
            <p:ph idx="1"/>
          </p:nvPr>
        </p:nvSpPr>
        <p:spPr/>
        <p:txBody>
          <a:bodyPr>
            <a:normAutofit/>
          </a:bodyPr>
          <a:lstStyle/>
          <a:p>
            <a:r>
              <a:rPr lang="en-US" dirty="0"/>
              <a:t>This case study was about two people who enjoyed the outdoors. After running a successful business by taking people on outdoor adventures around the world they wanted to reflect on ways they could optimize their operations. They have two guides, a marketing director, a supply manager, and an ecommerce developer.</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 RELATIONSHIP DIAGRAM</a:t>
            </a:r>
            <a:endParaRPr dirty="0"/>
          </a:p>
        </p:txBody>
      </p:sp>
      <p:pic>
        <p:nvPicPr>
          <p:cNvPr id="5" name="Content Placeholder 4">
            <a:extLst>
              <a:ext uri="{FF2B5EF4-FFF2-40B4-BE49-F238E27FC236}">
                <a16:creationId xmlns:a16="http://schemas.microsoft.com/office/drawing/2014/main" id="{7AD4E738-35B1-4C41-7ED0-24F6A3DB6CD9}"/>
              </a:ext>
            </a:extLst>
          </p:cNvPr>
          <p:cNvPicPr>
            <a:picLocks noGrp="1" noChangeAspect="1"/>
          </p:cNvPicPr>
          <p:nvPr>
            <p:ph idx="1"/>
          </p:nvPr>
        </p:nvPicPr>
        <p:blipFill>
          <a:blip r:embed="rId2"/>
          <a:stretch>
            <a:fillRect/>
          </a:stretch>
        </p:blipFill>
        <p:spPr>
          <a:xfrm>
            <a:off x="304202" y="2580362"/>
            <a:ext cx="8392720" cy="37640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Do Enough Customers Buy Equipment</a:t>
            </a:r>
            <a:r>
              <a:rPr lang="en-US" dirty="0"/>
              <a:t> To Keep Equipment Sales</a:t>
            </a:r>
            <a:r>
              <a:rPr dirty="0"/>
              <a:t>?</a:t>
            </a:r>
          </a:p>
        </p:txBody>
      </p:sp>
      <p:sp>
        <p:nvSpPr>
          <p:cNvPr id="3" name="Content Placeholder 2"/>
          <p:cNvSpPr>
            <a:spLocks noGrp="1"/>
          </p:cNvSpPr>
          <p:nvPr>
            <p:ph idx="1"/>
          </p:nvPr>
        </p:nvSpPr>
        <p:spPr>
          <a:xfrm>
            <a:off x="4377846" y="2304788"/>
            <a:ext cx="4635543" cy="3120025"/>
          </a:xfrm>
        </p:spPr>
        <p:txBody>
          <a:bodyPr>
            <a:normAutofit fontScale="92500" lnSpcReduction="20000"/>
          </a:bodyPr>
          <a:lstStyle/>
          <a:p>
            <a:pPr marL="0" indent="0">
              <a:buNone/>
            </a:pPr>
            <a:r>
              <a:rPr lang="en-US" dirty="0"/>
              <a:t>The first report allows the business owners to see which customers have purchased (not rented) equipment for their trips. They can see customers by name, how many items each customer has purchased, as well as the total amount spent on these items to make their decision on whether equipment sales are providing enough profit overall. The second report is more optional, but it allows the business owners to see how much of each individual item was purchased if they would like to see which inventory is the least popular.</a:t>
            </a:r>
            <a:endParaRPr dirty="0"/>
          </a:p>
        </p:txBody>
      </p:sp>
      <p:pic>
        <p:nvPicPr>
          <p:cNvPr id="5" name="Picture 4">
            <a:extLst>
              <a:ext uri="{FF2B5EF4-FFF2-40B4-BE49-F238E27FC236}">
                <a16:creationId xmlns:a16="http://schemas.microsoft.com/office/drawing/2014/main" id="{72EC3B22-630A-ECCF-DE4E-1B8BB2C0355E}"/>
              </a:ext>
            </a:extLst>
          </p:cNvPr>
          <p:cNvPicPr>
            <a:picLocks noChangeAspect="1"/>
          </p:cNvPicPr>
          <p:nvPr/>
        </p:nvPicPr>
        <p:blipFill>
          <a:blip r:embed="rId2"/>
          <a:stretch>
            <a:fillRect/>
          </a:stretch>
        </p:blipFill>
        <p:spPr>
          <a:xfrm>
            <a:off x="501531" y="2304788"/>
            <a:ext cx="3706723" cy="28205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ARE THERE ANY  INVENTORY ITEMS THAT ARE OVER FIVE YEARS OLD?</a:t>
            </a:r>
            <a:endParaRPr dirty="0"/>
          </a:p>
        </p:txBody>
      </p:sp>
      <p:sp>
        <p:nvSpPr>
          <p:cNvPr id="3" name="Content Placeholder 2"/>
          <p:cNvSpPr>
            <a:spLocks noGrp="1"/>
          </p:cNvSpPr>
          <p:nvPr>
            <p:ph idx="1"/>
          </p:nvPr>
        </p:nvSpPr>
        <p:spPr>
          <a:xfrm>
            <a:off x="4327742" y="2996852"/>
            <a:ext cx="4566650" cy="2590800"/>
          </a:xfrm>
        </p:spPr>
        <p:txBody>
          <a:bodyPr>
            <a:normAutofit fontScale="92500" lnSpcReduction="10000"/>
          </a:bodyPr>
          <a:lstStyle/>
          <a:p>
            <a:pPr marL="0" indent="0">
              <a:buNone/>
            </a:pPr>
            <a:r>
              <a:rPr lang="en-US" dirty="0"/>
              <a:t>There are two reports to answer this question one which displays rentable equipment and one which displays new equipment. These tables only display items that have been in inventory for over 5 years from the current date, as well as their item ID to distinguish that specific item from others of its kind for easy removal/inspection. It will not display any items newer than 5 years old.</a:t>
            </a:r>
            <a:endParaRPr dirty="0"/>
          </a:p>
        </p:txBody>
      </p:sp>
      <p:pic>
        <p:nvPicPr>
          <p:cNvPr id="5" name="Picture 4">
            <a:extLst>
              <a:ext uri="{FF2B5EF4-FFF2-40B4-BE49-F238E27FC236}">
                <a16:creationId xmlns:a16="http://schemas.microsoft.com/office/drawing/2014/main" id="{21325042-FE93-625F-0728-C8BAEEC9C71E}"/>
              </a:ext>
            </a:extLst>
          </p:cNvPr>
          <p:cNvPicPr>
            <a:picLocks noChangeAspect="1"/>
          </p:cNvPicPr>
          <p:nvPr/>
        </p:nvPicPr>
        <p:blipFill>
          <a:blip r:embed="rId2"/>
          <a:stretch>
            <a:fillRect/>
          </a:stretch>
        </p:blipFill>
        <p:spPr>
          <a:xfrm>
            <a:off x="225468" y="3089343"/>
            <a:ext cx="4102274" cy="18899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IS THERE ANY REGION (AFRICA, ASIA, OR SOUTHERN EUROPE) THAT HAS A DOWNWARD TREND IN BOOKINGS?</a:t>
            </a:r>
            <a:endParaRPr sz="2400" dirty="0"/>
          </a:p>
        </p:txBody>
      </p:sp>
      <p:sp>
        <p:nvSpPr>
          <p:cNvPr id="3" name="Content Placeholder 2"/>
          <p:cNvSpPr>
            <a:spLocks noGrp="1"/>
          </p:cNvSpPr>
          <p:nvPr>
            <p:ph idx="1"/>
          </p:nvPr>
        </p:nvSpPr>
        <p:spPr>
          <a:xfrm>
            <a:off x="5442557" y="2908647"/>
            <a:ext cx="3345363" cy="2074101"/>
          </a:xfrm>
        </p:spPr>
        <p:txBody>
          <a:bodyPr>
            <a:normAutofit lnSpcReduction="10000"/>
          </a:bodyPr>
          <a:lstStyle/>
          <a:p>
            <a:pPr marL="0" indent="0">
              <a:buNone/>
            </a:pPr>
            <a:r>
              <a:rPr lang="en-US" dirty="0"/>
              <a:t>This question can be answered by a single report. Each booking has been labeled by which region it was in, and the total number of bookings are added together for each region.</a:t>
            </a:r>
            <a:endParaRPr dirty="0"/>
          </a:p>
        </p:txBody>
      </p:sp>
      <p:pic>
        <p:nvPicPr>
          <p:cNvPr id="5" name="Picture 4">
            <a:extLst>
              <a:ext uri="{FF2B5EF4-FFF2-40B4-BE49-F238E27FC236}">
                <a16:creationId xmlns:a16="http://schemas.microsoft.com/office/drawing/2014/main" id="{2D1EBE34-2AD1-01AC-5F33-63686DD37800}"/>
              </a:ext>
            </a:extLst>
          </p:cNvPr>
          <p:cNvPicPr>
            <a:picLocks noChangeAspect="1"/>
          </p:cNvPicPr>
          <p:nvPr/>
        </p:nvPicPr>
        <p:blipFill>
          <a:blip r:embed="rId2"/>
          <a:stretch>
            <a:fillRect/>
          </a:stretch>
        </p:blipFill>
        <p:spPr>
          <a:xfrm>
            <a:off x="517563" y="2629395"/>
            <a:ext cx="4764426" cy="30397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ASSUMPTIONS</a:t>
            </a:r>
            <a:endParaRPr dirty="0"/>
          </a:p>
        </p:txBody>
      </p:sp>
      <p:sp>
        <p:nvSpPr>
          <p:cNvPr id="3" name="Content Placeholder 2"/>
          <p:cNvSpPr>
            <a:spLocks noGrp="1"/>
          </p:cNvSpPr>
          <p:nvPr>
            <p:ph idx="1"/>
          </p:nvPr>
        </p:nvSpPr>
        <p:spPr/>
        <p:txBody>
          <a:bodyPr>
            <a:normAutofit fontScale="92500" lnSpcReduction="10000"/>
          </a:bodyPr>
          <a:lstStyle/>
          <a:p>
            <a:r>
              <a:rPr dirty="0"/>
              <a:t>Customers must register before booking</a:t>
            </a:r>
            <a:r>
              <a:rPr lang="en-US" dirty="0"/>
              <a:t>. N</a:t>
            </a:r>
            <a:r>
              <a:rPr dirty="0"/>
              <a:t>o guest accounts.</a:t>
            </a:r>
          </a:p>
          <a:p>
            <a:r>
              <a:rPr dirty="0"/>
              <a:t>Purchased equipment can</a:t>
            </a:r>
            <a:r>
              <a:rPr lang="en-US" dirty="0"/>
              <a:t>'</a:t>
            </a:r>
            <a:r>
              <a:rPr dirty="0"/>
              <a:t>t be</a:t>
            </a:r>
            <a:r>
              <a:rPr lang="en-US" dirty="0"/>
              <a:t> used as</a:t>
            </a:r>
            <a:r>
              <a:rPr dirty="0"/>
              <a:t> rented, and rental equipment cannot be sold</a:t>
            </a:r>
            <a:r>
              <a:rPr lang="en-US" dirty="0"/>
              <a:t> as new equipment</a:t>
            </a:r>
            <a:r>
              <a:rPr dirty="0"/>
              <a:t>.</a:t>
            </a:r>
          </a:p>
          <a:p>
            <a:r>
              <a:rPr lang="en-US" dirty="0"/>
              <a:t>A person</a:t>
            </a:r>
            <a:r>
              <a:rPr dirty="0"/>
              <a:t> may purchase </a:t>
            </a:r>
            <a:r>
              <a:rPr lang="en-US" dirty="0"/>
              <a:t>and/or </a:t>
            </a:r>
            <a:r>
              <a:rPr dirty="0"/>
              <a:t>rent equipment for each trip.</a:t>
            </a:r>
          </a:p>
          <a:p>
            <a:r>
              <a:rPr dirty="0"/>
              <a:t>Trips </a:t>
            </a:r>
            <a:r>
              <a:rPr lang="en-US" dirty="0"/>
              <a:t>don’t </a:t>
            </a:r>
            <a:r>
              <a:rPr dirty="0"/>
              <a:t>include equipment </a:t>
            </a:r>
            <a:r>
              <a:rPr lang="en-US" dirty="0"/>
              <a:t>and people would have to purchase or rent the equipment</a:t>
            </a:r>
            <a:r>
              <a:rPr dirty="0"/>
              <a:t>.</a:t>
            </a:r>
          </a:p>
          <a:p>
            <a:r>
              <a:rPr lang="en-US" dirty="0"/>
              <a:t>Only a maximum numbers of customers can be signed up for each trip.</a:t>
            </a:r>
            <a:endParaRPr dirty="0"/>
          </a:p>
          <a:p>
            <a:r>
              <a:rPr lang="en-US" dirty="0"/>
              <a:t>An employee can only be on one trip at a time.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39</TotalTime>
  <Words>409</Words>
  <Application>Microsoft Office PowerPoint</Application>
  <PresentationFormat>On-screen Show (4:3)</PresentationFormat>
  <Paragraphs>19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Ion Boardroom</vt:lpstr>
      <vt:lpstr>Outland Adventures Database Case Study</vt:lpstr>
      <vt:lpstr>Group 4’s Approach</vt:lpstr>
      <vt:lpstr>ENTITY RELATIONSHIP DIAGRAM</vt:lpstr>
      <vt:lpstr>Do Enough Customers Buy Equipment To Keep Equipment Sales?</vt:lpstr>
      <vt:lpstr>ARE THERE ANY  INVENTORY ITEMS THAT ARE OVER FIVE YEARS OLD?</vt:lpstr>
      <vt:lpstr>IS THERE ANY REGION (AFRICA, ASIA, OR SOUTHERN EUROPE) THAT HAS A DOWNWARD TREND IN BOOKINGS?</vt:lpstr>
      <vt:lpstr>CASE ASSUMPTIONS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RGB RULZ</dc:creator>
  <cp:keywords/>
  <dc:description>generated using python-pptx</dc:description>
  <cp:lastModifiedBy>Daniel Fryer</cp:lastModifiedBy>
  <cp:revision>2</cp:revision>
  <dcterms:created xsi:type="dcterms:W3CDTF">2013-01-27T09:14:16Z</dcterms:created>
  <dcterms:modified xsi:type="dcterms:W3CDTF">2026-03-15T18:15:00Z</dcterms:modified>
  <cp:category/>
</cp:coreProperties>
</file>